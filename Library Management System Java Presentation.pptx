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Plus Jakarta Sans"/>
      <ns0:bold ns1:id="rIdFont17"/>
      <ns0:regular ns1:id="rIdFont18"/>
    </ns0:embeddedFont>
    <ns0:embeddedFont>
      <ns0:font typeface="JetBrains Mono"/>
      <ns0:regular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b8226478-d281-4868-aee9-2dc9ac4d74b8.fntdata" /><ns0:Relationship Id="rIdFont18" Type="http://schemas.openxmlformats.org/officeDocument/2006/relationships/font" Target="fonts/b7dbfdf9-21b0-48d5-a045-abfc19082a1e.fntdata" /><ns0:Relationship Id="rIdFont19" Type="http://schemas.openxmlformats.org/officeDocument/2006/relationships/font" Target="fonts/23a1e4f1-f3fe-4f04-9eaf-a8b57bc960a2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48725" y="-1419225"/>
            <a:ext cx="4762500" cy="4762500"/>
          </a:xfrm>
          <a:prstGeom prst="rect">
            <a:avLst/>
          </a:prstGeom>
          <a:solidFill>
            <a:srgbClr val="081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25" y="9525"/>
            <a:ext cx="57150" cy="6838950"/>
          </a:xfrm>
          <a:prstGeom prst="rect">
            <a:avLst/>
          </a:prstGeom>
          <a:solidFill>
            <a:srgbClr val="408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9125" y="5286375"/>
            <a:ext cx="10953750" cy="952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9125" y="5286375"/>
            <a:ext cx="109537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125" y="619125"/>
            <a:ext cx="2428875" cy="285750"/>
          </a:xfrm>
          <a:prstGeom prst="roundRect">
            <a:avLst>
              <a:gd name="adj" fmla="val 50000"/>
            </a:avLst>
          </a:prstGeom>
          <a:solidFill>
            <a:srgbClr val="0A193D"/>
          </a:solidFill>
          <a:ln w="9525">
            <a:solidFill>
              <a:srgbClr val="1F3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9125" y="1133475"/>
            <a:ext cx="8601075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Community Library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" y="2425005"/>
            <a:ext cx="6762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An Object-Oriented Java Core Application for Automated Book Circulation, Tracking, and Fine Computation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676275"/>
            <a:ext cx="22193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0A5FA"/>
                </a:solidFill>
                <a:latin typeface="Plus Jakarta Sans"/>
              </a:rPr>
              <a:t>JAVA OOP PROJECT EXPO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2300" y="676275"/>
            <a:ext cx="17502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KL University • FE Dept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39300" y="5857875"/>
            <a:ext cx="241696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SECTION &amp;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9300" y="6057900"/>
            <a:ext cx="241696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Java Section 15 • 26SC1101E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125" y="5600700"/>
            <a:ext cx="332184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TEAM MEMBERS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" y="5800725"/>
            <a:ext cx="3321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K. Mokshagna Reddy </a:t>
            </a:r>
            <a:r>
              <a:rPr b="1" sz="1200" i="0" u="none">
                <a:solidFill>
                  <a:srgbClr val="64748B"/>
                </a:solidFill>
                <a:latin typeface="Plus Jakarta Sans"/>
              </a:rPr>
              <a:t>(2620030686)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125" y="6038850"/>
            <a:ext cx="3321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Sathwik </a:t>
            </a:r>
            <a:r>
              <a:rPr b="1" sz="1200" i="0" u="none">
                <a:solidFill>
                  <a:srgbClr val="64748B"/>
                </a:solidFill>
                <a:latin typeface="Plus Jakarta Sans"/>
              </a:rPr>
              <a:t>(2620090091)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3800" y="5600700"/>
            <a:ext cx="11906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PROJECT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3800" y="5800725"/>
            <a:ext cx="1190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Dr. Sreeram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42975" y="3990975"/>
            <a:ext cx="3810000" cy="3810000"/>
          </a:xfrm>
          <a:prstGeom prst="rect">
            <a:avLst/>
          </a:prstGeom>
          <a:solidFill>
            <a:srgbClr val="1A1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25" y="6791325"/>
            <a:ext cx="12172950" cy="57150"/>
          </a:xfrm>
          <a:prstGeom prst="rect">
            <a:avLst/>
          </a:prstGeom>
          <a:solidFill>
            <a:srgbClr val="408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185945" y="400050"/>
            <a:ext cx="1386929" cy="285750"/>
          </a:xfrm>
          <a:prstGeom prst="roundRect">
            <a:avLst>
              <a:gd name="adj" fmla="val 50000"/>
            </a:avLst>
          </a:prstGeom>
          <a:solidFill>
            <a:srgbClr val="0D1A36"/>
          </a:solidFill>
          <a:ln w="9525">
            <a:solidFill>
              <a:srgbClr val="233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" y="2762250"/>
            <a:ext cx="5324475" cy="1924050"/>
          </a:xfrm>
          <a:prstGeom prst="roundRect">
            <a:avLst>
              <a:gd name="adj" fmla="val 7920"/>
            </a:avLst>
          </a:prstGeom>
          <a:solidFill>
            <a:srgbClr val="0E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48400" y="2762250"/>
            <a:ext cx="5324475" cy="1924050"/>
          </a:xfrm>
          <a:prstGeom prst="roundRect">
            <a:avLst>
              <a:gd name="adj" fmla="val 7920"/>
            </a:avLst>
          </a:prstGeom>
          <a:solidFill>
            <a:srgbClr val="0E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125" y="4676775"/>
            <a:ext cx="53244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125" y="2762250"/>
            <a:ext cx="53244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125" y="2762250"/>
            <a:ext cx="38100" cy="19240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34075" y="2762250"/>
            <a:ext cx="9525" cy="1924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8400" y="4676775"/>
            <a:ext cx="53244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400" y="2762250"/>
            <a:ext cx="53244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400" y="2762250"/>
            <a:ext cx="38100" cy="1924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563350" y="2762250"/>
            <a:ext cx="9525" cy="1924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000375"/>
            <a:ext cx="419100" cy="4191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3000375"/>
            <a:ext cx="419100" cy="4191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" y="3124200"/>
            <a:ext cx="17145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975" y="3124200"/>
            <a:ext cx="133350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9125" y="352425"/>
            <a:ext cx="6119514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Plus Jakarta Sans"/>
              </a:rPr>
              <a:t>Problem Statement &amp; Objective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8345" y="457200"/>
            <a:ext cx="117737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0A5FA"/>
                </a:solidFill>
                <a:latin typeface="Plus Jakarta Sans"/>
              </a:rPr>
              <a:t>01 /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3552825"/>
            <a:ext cx="632579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The Manual Challenges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" y="3848100"/>
            <a:ext cx="49149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Traditional paper cataloging leads to entry errors, lost registers, untracked overdue books, delayed fine calculations, and zero real-time inventory visibility.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5100" y="3552825"/>
            <a:ext cx="56769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The Java 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5100" y="3848100"/>
            <a:ext cx="49149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A high-performance object-oriented system automating checkout workflows, storing member histories, executing fine algorithms, and executing constant-time search queries.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25" y="6791325"/>
            <a:ext cx="12172950" cy="57150"/>
          </a:xfrm>
          <a:prstGeom prst="rect">
            <a:avLst/>
          </a:prstGeom>
          <a:solidFill>
            <a:srgbClr val="408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76370" y="400050"/>
            <a:ext cx="1796504" cy="285750"/>
          </a:xfrm>
          <a:prstGeom prst="roundRect">
            <a:avLst>
              <a:gd name="adj" fmla="val 50000"/>
            </a:avLst>
          </a:prstGeom>
          <a:solidFill>
            <a:srgbClr val="0D1A36"/>
          </a:solidFill>
          <a:ln w="9525">
            <a:solidFill>
              <a:srgbClr val="233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" y="4405312"/>
            <a:ext cx="10953750" cy="400050"/>
          </a:xfrm>
          <a:prstGeom prst="roundRect">
            <a:avLst>
              <a:gd name="adj" fmla="val 19047"/>
            </a:avLst>
          </a:prstGeom>
          <a:solidFill>
            <a:srgbClr val="0E1526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" y="2643187"/>
            <a:ext cx="2686942" cy="1571625"/>
          </a:xfrm>
          <a:prstGeom prst="roundRect">
            <a:avLst>
              <a:gd name="adj" fmla="val 6060"/>
            </a:avLst>
          </a:prstGeom>
          <a:solidFill>
            <a:srgbClr val="0F172A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58517" y="2643187"/>
            <a:ext cx="2444501" cy="1571625"/>
          </a:xfrm>
          <a:prstGeom prst="roundRect">
            <a:avLst>
              <a:gd name="adj" fmla="val 6060"/>
            </a:avLst>
          </a:prstGeom>
          <a:solidFill>
            <a:srgbClr val="0F172A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3519" y="2643187"/>
            <a:ext cx="2444501" cy="1571625"/>
          </a:xfrm>
          <a:prstGeom prst="roundRect">
            <a:avLst>
              <a:gd name="adj" fmla="val 6060"/>
            </a:avLst>
          </a:prstGeom>
          <a:solidFill>
            <a:srgbClr val="0F172A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28521" y="2643187"/>
            <a:ext cx="2444501" cy="1571625"/>
          </a:xfrm>
          <a:prstGeom prst="roundRect">
            <a:avLst>
              <a:gd name="adj" fmla="val 6060"/>
            </a:avLst>
          </a:prstGeom>
          <a:solidFill>
            <a:srgbClr val="0F172A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8650" y="2652712"/>
            <a:ext cx="2667892" cy="304800"/>
          </a:xfrm>
          <a:prstGeom prst="rect">
            <a:avLst/>
          </a:prstGeom>
          <a:solidFill>
            <a:srgbClr val="132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650" y="2947987"/>
            <a:ext cx="2667892" cy="952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650" y="3509962"/>
            <a:ext cx="266789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68042" y="2652712"/>
            <a:ext cx="2425451" cy="304800"/>
          </a:xfrm>
          <a:prstGeom prst="rect">
            <a:avLst/>
          </a:prstGeom>
          <a:solidFill>
            <a:srgbClr val="132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68042" y="2947987"/>
            <a:ext cx="2425451" cy="952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8042" y="3643312"/>
            <a:ext cx="242545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03044" y="2652712"/>
            <a:ext cx="2425451" cy="304800"/>
          </a:xfrm>
          <a:prstGeom prst="rect">
            <a:avLst/>
          </a:prstGeom>
          <a:solidFill>
            <a:srgbClr val="132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03044" y="2947987"/>
            <a:ext cx="2425451" cy="952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03044" y="3643312"/>
            <a:ext cx="242545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38046" y="2652712"/>
            <a:ext cx="2425451" cy="304800"/>
          </a:xfrm>
          <a:prstGeom prst="rect">
            <a:avLst/>
          </a:prstGeom>
          <a:solidFill>
            <a:srgbClr val="132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38046" y="2947987"/>
            <a:ext cx="2425451" cy="952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38046" y="3643312"/>
            <a:ext cx="242545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567" y="3343275"/>
            <a:ext cx="171450" cy="1714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008" y="2747962"/>
            <a:ext cx="142875" cy="1143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2569" y="2747962"/>
            <a:ext cx="104775" cy="1143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6608" y="2747962"/>
            <a:ext cx="104775" cy="1143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0648" y="2747962"/>
            <a:ext cx="85725" cy="1143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19125" y="352425"/>
            <a:ext cx="6113264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Plus Jakarta Sans"/>
              </a:rPr>
              <a:t>UML Class Architecture Diagram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8770" y="457200"/>
            <a:ext cx="1586954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0A5FA"/>
                </a:solidFill>
                <a:latin typeface="Plus Jakarta Sans"/>
              </a:rPr>
              <a:t>02 / SYSTEM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-279796" y="4519612"/>
            <a:ext cx="12751593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F8FAFC"/>
                </a:solidFill>
                <a:latin typeface="Plus Jakarta Sans"/>
              </a:rPr>
              <a:t>Relationship Key: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Aggregate Controller (</a:t>
            </a:r>
            <a:r>
              <a:rPr b="0" sz="975" i="0" u="none">
                <a:solidFill>
                  <a:srgbClr val="60A5FA"/>
                </a:solidFill>
                <a:latin typeface="Plus Jakarta Sans"/>
              </a:rPr>
              <a:t>LibrarySystem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) manages 1-to-N relationships with </a:t>
            </a:r>
            <a:r>
              <a:rPr b="0" sz="975" i="0" u="none">
                <a:solidFill>
                  <a:srgbClr val="60A5FA"/>
                </a:solidFill>
                <a:latin typeface="Plus Jakarta Sans"/>
              </a:rPr>
              <a:t>Book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, </a:t>
            </a:r>
            <a:r>
              <a:rPr b="0" sz="975" i="0" u="none">
                <a:solidFill>
                  <a:srgbClr val="60A5FA"/>
                </a:solidFill>
                <a:latin typeface="Plus Jakarta Sans"/>
              </a:rPr>
              <a:t>Member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, and transaction activity logs.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9463" y="2728912"/>
            <a:ext cx="310626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60A5FA"/>
                </a:solidFill>
                <a:latin typeface="Plus Jakarta Sans"/>
              </a:rPr>
              <a:t>LibrarySystem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3033712"/>
            <a:ext cx="2534542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CBD5E1"/>
                </a:solidFill>
                <a:latin typeface="JetBrains Mono"/>
              </a:rPr>
              <a:t>- books: HashMap</a:t>
            </a:r>
            <a:r>
              <a:t>
</a:t>
            </a:r>
            <a:r>
              <a:rPr b="0" sz="825" i="0" u="none">
                <a:solidFill>
                  <a:srgbClr val="CBD5E1"/>
                </a:solidFill>
                <a:latin typeface="JetBrains Mono"/>
              </a:rPr>
              <a:t> - members: Map</a:t>
            </a:r>
            <a:r>
              <a:t>
</a:t>
            </a:r>
            <a:r>
              <a:rPr b="0" sz="825" i="0" u="none">
                <a:solidFill>
                  <a:srgbClr val="CBD5E1"/>
                </a:solidFill>
                <a:latin typeface="JetBrains Mono"/>
              </a:rPr>
              <a:t> - log: List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950" y="3595687"/>
            <a:ext cx="2534542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CBD5E1"/>
                </a:solidFill>
                <a:latin typeface="JetBrains Mono"/>
              </a:rPr>
              <a:t>+ addBook(Book b): void</a:t>
            </a:r>
            <a:r>
              <a:t>
</a:t>
            </a:r>
            <a:r>
              <a:rPr b="0" sz="825" i="0" u="none">
                <a:solidFill>
                  <a:srgbClr val="CBD5E1"/>
                </a:solidFill>
                <a:latin typeface="JetBrains Mono"/>
              </a:rPr>
              <a:t> + registerMember(Member m): void</a:t>
            </a:r>
            <a:r>
              <a:t>
</a:t>
            </a:r>
            <a:r>
              <a:rPr b="0" sz="825" i="0" u="none">
                <a:solidFill>
                  <a:srgbClr val="CBD5E1"/>
                </a:solidFill>
                <a:latin typeface="JetBrains Mono"/>
              </a:rPr>
              <a:t> + checkoutBook(isbn, id): boolean</a:t>
            </a:r>
            <a:r>
              <a:t>
</a:t>
            </a:r>
            <a:r>
              <a:rPr b="0" sz="825" i="0" u="none">
                <a:solidFill>
                  <a:srgbClr val="CBD5E1"/>
                </a:solidFill>
                <a:latin typeface="JetBrains Mono"/>
              </a:rPr>
              <a:t> + returnBook(isbn, id): double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79161" y="2728912"/>
            <a:ext cx="2803214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60A5FA"/>
                </a:solidFill>
                <a:latin typeface="Plus Jakarta Sans"/>
              </a:rPr>
              <a:t>Book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82342" y="3033712"/>
            <a:ext cx="2292101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CBD5E1"/>
                </a:solidFill>
                <a:latin typeface="JetBrains Mono"/>
              </a:rPr>
              <a:t>- isbn: String</a:t>
            </a:r>
            <a:r>
              <a:t>
</a:t>
            </a:r>
            <a:r>
              <a:rPr b="0" sz="825" i="0" u="none">
                <a:solidFill>
                  <a:srgbClr val="CBD5E1"/>
                </a:solidFill>
                <a:latin typeface="JetBrains Mono"/>
              </a:rPr>
              <a:t> - title: String</a:t>
            </a:r>
            <a:r>
              <a:t>
</a:t>
            </a:r>
            <a:r>
              <a:rPr b="0" sz="825" i="0" u="none">
                <a:solidFill>
                  <a:srgbClr val="CBD5E1"/>
                </a:solidFill>
                <a:latin typeface="JetBrains Mono"/>
              </a:rPr>
              <a:t> - author: String</a:t>
            </a:r>
            <a:r>
              <a:t>
</a:t>
            </a:r>
            <a:r>
              <a:rPr b="0" sz="825" i="0" u="none">
                <a:solidFill>
                  <a:srgbClr val="CBD5E1"/>
                </a:solidFill>
                <a:latin typeface="JetBrains Mono"/>
              </a:rPr>
              <a:t> - isAvailable: boolean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82342" y="3729037"/>
            <a:ext cx="2292101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CBD5E1"/>
                </a:solidFill>
                <a:latin typeface="JetBrains Mono"/>
              </a:rPr>
              <a:t>+ getIsbn(): String</a:t>
            </a:r>
            <a:r>
              <a:t>
</a:t>
            </a:r>
            <a:r>
              <a:rPr b="0" sz="825" i="0" u="none">
                <a:solidFill>
                  <a:srgbClr val="CBD5E1"/>
                </a:solidFill>
                <a:latin typeface="JetBrains Mono"/>
              </a:rPr>
              <a:t> + setAvailable(st: bool): void</a:t>
            </a:r>
            <a:r>
              <a:t>
</a:t>
            </a:r>
            <a:r>
              <a:rPr b="0" sz="825" i="0" u="none">
                <a:solidFill>
                  <a:srgbClr val="CBD5E1"/>
                </a:solidFill>
                <a:latin typeface="JetBrains Mono"/>
              </a:rPr>
              <a:t> + checkOut(): void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14163" y="2728912"/>
            <a:ext cx="2803214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60A5FA"/>
                </a:solidFill>
                <a:latin typeface="Plus Jakarta Sans"/>
              </a:rPr>
              <a:t>Member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17344" y="3033712"/>
            <a:ext cx="2292101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CBD5E1"/>
                </a:solidFill>
                <a:latin typeface="JetBrains Mono"/>
              </a:rPr>
              <a:t>- memberId: String</a:t>
            </a:r>
            <a:r>
              <a:t>
</a:t>
            </a:r>
            <a:r>
              <a:rPr b="0" sz="825" i="0" u="none">
                <a:solidFill>
                  <a:srgbClr val="CBD5E1"/>
                </a:solidFill>
                <a:latin typeface="JetBrains Mono"/>
              </a:rPr>
              <a:t> - name: String</a:t>
            </a:r>
            <a:r>
              <a:t>
</a:t>
            </a:r>
            <a:r>
              <a:rPr b="0" sz="825" i="0" u="none">
                <a:solidFill>
                  <a:srgbClr val="CBD5E1"/>
                </a:solidFill>
                <a:latin typeface="JetBrains Mono"/>
              </a:rPr>
              <a:t> - borrowedCount: int</a:t>
            </a:r>
            <a:r>
              <a:t>
</a:t>
            </a:r>
            <a:r>
              <a:rPr b="0" sz="825" i="0" u="none">
                <a:solidFill>
                  <a:srgbClr val="CBD5E1"/>
                </a:solidFill>
                <a:latin typeface="JetBrains Mono"/>
              </a:rPr>
              <a:t> - fineBalance: double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17344" y="3729037"/>
            <a:ext cx="2292101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CBD5E1"/>
                </a:solidFill>
                <a:latin typeface="JetBrains Mono"/>
              </a:rPr>
              <a:t>+ getMemberId(): String</a:t>
            </a:r>
            <a:r>
              <a:t>
</a:t>
            </a:r>
            <a:r>
              <a:rPr b="0" sz="825" i="0" u="none">
                <a:solidFill>
                  <a:srgbClr val="CBD5E1"/>
                </a:solidFill>
                <a:latin typeface="JetBrains Mono"/>
              </a:rPr>
              <a:t> + updateFine(amt): void</a:t>
            </a:r>
            <a:r>
              <a:t>
</a:t>
            </a:r>
            <a:r>
              <a:rPr b="0" sz="825" i="0" u="none">
                <a:solidFill>
                  <a:srgbClr val="CBD5E1"/>
                </a:solidFill>
                <a:latin typeface="JetBrains Mono"/>
              </a:rPr>
              <a:t> + canBorrow(): boolean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49165" y="2728912"/>
            <a:ext cx="2803214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60A5FA"/>
                </a:solidFill>
                <a:latin typeface="Plus Jakarta Sans"/>
              </a:rPr>
              <a:t>Transaction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2346" y="3033712"/>
            <a:ext cx="2292101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CBD5E1"/>
                </a:solidFill>
                <a:latin typeface="JetBrains Mono"/>
              </a:rPr>
              <a:t>- transId: String</a:t>
            </a:r>
            <a:r>
              <a:t>
</a:t>
            </a:r>
            <a:r>
              <a:rPr b="0" sz="825" i="0" u="none">
                <a:solidFill>
                  <a:srgbClr val="CBD5E1"/>
                </a:solidFill>
                <a:latin typeface="JetBrains Mono"/>
              </a:rPr>
              <a:t> - bookIsbn: String</a:t>
            </a:r>
            <a:r>
              <a:t>
</a:t>
            </a:r>
            <a:r>
              <a:rPr b="0" sz="825" i="0" u="none">
                <a:solidFill>
                  <a:srgbClr val="CBD5E1"/>
                </a:solidFill>
                <a:latin typeface="JetBrains Mono"/>
              </a:rPr>
              <a:t> - issueDate: LocalDate</a:t>
            </a:r>
            <a:r>
              <a:t>
</a:t>
            </a:r>
            <a:r>
              <a:rPr b="0" sz="825" i="0" u="none">
                <a:solidFill>
                  <a:srgbClr val="CBD5E1"/>
                </a:solidFill>
                <a:latin typeface="JetBrains Mono"/>
              </a:rPr>
              <a:t> - dueDate: LocalDate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52346" y="3729037"/>
            <a:ext cx="2292101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CBD5E1"/>
                </a:solidFill>
                <a:latin typeface="JetBrains Mono"/>
              </a:rPr>
              <a:t>+ calculateOverdueDays(): int</a:t>
            </a:r>
            <a:r>
              <a:t>
</a:t>
            </a:r>
            <a:r>
              <a:rPr b="0" sz="825" i="0" u="none">
                <a:solidFill>
                  <a:srgbClr val="CBD5E1"/>
                </a:solidFill>
                <a:latin typeface="JetBrains Mono"/>
              </a:rPr>
              <a:t> + computeFine(): double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25" y="6791325"/>
            <a:ext cx="12172950" cy="57150"/>
          </a:xfrm>
          <a:prstGeom prst="rect">
            <a:avLst/>
          </a:prstGeom>
          <a:solidFill>
            <a:srgbClr val="408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62120" y="400050"/>
            <a:ext cx="1510754" cy="285750"/>
          </a:xfrm>
          <a:prstGeom prst="roundRect">
            <a:avLst>
              <a:gd name="adj" fmla="val 50000"/>
            </a:avLst>
          </a:prstGeom>
          <a:solidFill>
            <a:srgbClr val="0D1A36"/>
          </a:solidFill>
          <a:ln w="9525">
            <a:solidFill>
              <a:srgbClr val="233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" y="2840831"/>
            <a:ext cx="2624137" cy="1766887"/>
          </a:xfrm>
          <a:prstGeom prst="roundRect">
            <a:avLst>
              <a:gd name="adj" fmla="val 8625"/>
            </a:avLst>
          </a:prstGeom>
          <a:solidFill>
            <a:srgbClr val="0D1424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395662" y="2840831"/>
            <a:ext cx="2624137" cy="1766887"/>
          </a:xfrm>
          <a:prstGeom prst="roundRect">
            <a:avLst>
              <a:gd name="adj" fmla="val 8625"/>
            </a:avLst>
          </a:prstGeom>
          <a:solidFill>
            <a:srgbClr val="0D1424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2840831"/>
            <a:ext cx="2624137" cy="1766887"/>
          </a:xfrm>
          <a:prstGeom prst="roundRect">
            <a:avLst>
              <a:gd name="adj" fmla="val 8625"/>
            </a:avLst>
          </a:prstGeom>
          <a:solidFill>
            <a:srgbClr val="0D1424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48737" y="2840831"/>
            <a:ext cx="2624137" cy="1766887"/>
          </a:xfrm>
          <a:prstGeom prst="roundRect">
            <a:avLst>
              <a:gd name="adj" fmla="val 8625"/>
            </a:avLst>
          </a:prstGeom>
          <a:solidFill>
            <a:srgbClr val="0D1424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9743" y="3078956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36281" y="3078956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2818" y="3078956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89356" y="3078956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125" y="352425"/>
            <a:ext cx="8557319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Plus Jakarta Sans"/>
              </a:rPr>
              <a:t>Transaction Workflow &amp; Execution Sequence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14520" y="457200"/>
            <a:ext cx="1301204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0A5FA"/>
                </a:solidFill>
                <a:latin typeface="Plus Jakarta Sans"/>
              </a:rPr>
              <a:t>03 /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6868" y="3078956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642" y="3536156"/>
            <a:ext cx="281910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Plus Jakarta Sans"/>
              </a:rPr>
              <a:t>ISBN Lookup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8764" y="3812381"/>
            <a:ext cx="268485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System verifies book existence and checks availability flag in O(1)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3406" y="3078956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8180" y="3536156"/>
            <a:ext cx="281910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Plus Jakarta Sans"/>
              </a:rPr>
              <a:t>Member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5301" y="3812381"/>
            <a:ext cx="2684859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Validates active member status and ensures total active loans &lt; threshold limit.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9943" y="3078956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4717" y="3536156"/>
            <a:ext cx="281910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Plus Jakarta Sans"/>
              </a:rPr>
              <a:t>State Mutation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1839" y="3812381"/>
            <a:ext cx="268485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Marks availability false and logs timestamped transaction entry.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46481" y="3078956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1255" y="3536156"/>
            <a:ext cx="281910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Plus Jakarta Sans"/>
              </a:rPr>
              <a:t>Return &amp; Fine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8376" y="3812381"/>
            <a:ext cx="2684859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Calculates elapsed days; automatically adds late fee penalties if overdue.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25" y="6791325"/>
            <a:ext cx="12172950" cy="57150"/>
          </a:xfrm>
          <a:prstGeom prst="rect">
            <a:avLst/>
          </a:prstGeom>
          <a:solidFill>
            <a:srgbClr val="408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57370" y="400050"/>
            <a:ext cx="1415504" cy="285750"/>
          </a:xfrm>
          <a:prstGeom prst="roundRect">
            <a:avLst>
              <a:gd name="adj" fmla="val 50000"/>
            </a:avLst>
          </a:prstGeom>
          <a:solidFill>
            <a:srgbClr val="0D1A36"/>
          </a:solidFill>
          <a:ln w="9525">
            <a:solidFill>
              <a:srgbClr val="233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" y="2762250"/>
            <a:ext cx="3498800" cy="1924050"/>
          </a:xfrm>
          <a:prstGeom prst="roundRect">
            <a:avLst>
              <a:gd name="adj" fmla="val 7920"/>
            </a:avLst>
          </a:prstGeom>
          <a:solidFill>
            <a:srgbClr val="0D1424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6525" y="2762250"/>
            <a:ext cx="3498800" cy="1924050"/>
          </a:xfrm>
          <a:prstGeom prst="roundRect">
            <a:avLst>
              <a:gd name="adj" fmla="val 7920"/>
            </a:avLst>
          </a:prstGeom>
          <a:solidFill>
            <a:srgbClr val="0D1424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3925" y="2762250"/>
            <a:ext cx="3498800" cy="1924050"/>
          </a:xfrm>
          <a:prstGeom prst="roundRect">
            <a:avLst>
              <a:gd name="adj" fmla="val 7920"/>
            </a:avLst>
          </a:prstGeom>
          <a:solidFill>
            <a:srgbClr val="0D1424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3000375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650" y="3000375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2050" y="3000375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3124200"/>
            <a:ext cx="1524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8950" y="3124200"/>
            <a:ext cx="1905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350" y="3124200"/>
            <a:ext cx="19050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9125" y="352425"/>
            <a:ext cx="9113639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Plus Jakarta Sans"/>
              </a:rPr>
              <a:t>Object-Oriented Programming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09770" y="457200"/>
            <a:ext cx="1205954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0A5FA"/>
                </a:solidFill>
                <a:latin typeface="Plus Jakarta Sans"/>
              </a:rPr>
              <a:t>04 / OOP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3552825"/>
            <a:ext cx="396709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Encapsulation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3848100"/>
            <a:ext cx="31178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Private instance attributes (`isbn`, `fineBalance`) restricted behind strict getter and setter access control methods.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4650" y="3552825"/>
            <a:ext cx="396709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Inheritance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4650" y="3848100"/>
            <a:ext cx="31178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`Book` and `Magazine` subclasses extending common abstract `LibraryItem` features for clean reuse.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2050" y="3552825"/>
            <a:ext cx="38799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Polymorphism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2050" y="3848100"/>
            <a:ext cx="31178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Overridden `calculateLateFee()` dynamic dispatch handles unique overdue rules across varied item types.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25" y="6791325"/>
            <a:ext cx="12172950" cy="57150"/>
          </a:xfrm>
          <a:prstGeom prst="rect">
            <a:avLst/>
          </a:prstGeom>
          <a:solidFill>
            <a:srgbClr val="408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13590" y="400050"/>
            <a:ext cx="1659284" cy="285750"/>
          </a:xfrm>
          <a:prstGeom prst="roundRect">
            <a:avLst>
              <a:gd name="adj" fmla="val 50000"/>
            </a:avLst>
          </a:prstGeom>
          <a:solidFill>
            <a:srgbClr val="0D1A36"/>
          </a:solidFill>
          <a:ln w="9525">
            <a:solidFill>
              <a:srgbClr val="233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48375" y="2478881"/>
            <a:ext cx="5524500" cy="2490787"/>
          </a:xfrm>
          <a:prstGeom prst="roundRect">
            <a:avLst>
              <a:gd name="adj" fmla="val 4588"/>
            </a:avLst>
          </a:prstGeom>
          <a:solidFill>
            <a:srgbClr val="02061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" y="2962275"/>
            <a:ext cx="5124450" cy="695325"/>
          </a:xfrm>
          <a:prstGeom prst="roundRect">
            <a:avLst>
              <a:gd name="adj" fmla="val 16438"/>
            </a:avLst>
          </a:prstGeom>
          <a:solidFill>
            <a:srgbClr val="0E1526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125" y="3790950"/>
            <a:ext cx="5124450" cy="695325"/>
          </a:xfrm>
          <a:prstGeom prst="roundRect">
            <a:avLst>
              <a:gd name="adj" fmla="val 16438"/>
            </a:avLst>
          </a:prstGeom>
          <a:solidFill>
            <a:srgbClr val="0E1526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3205162"/>
            <a:ext cx="266700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4033837"/>
            <a:ext cx="266700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9125" y="352425"/>
            <a:ext cx="6513314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Plus Jakarta Sans"/>
              </a:rPr>
              <a:t>Data Structures &amp; Java Collections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65990" y="457200"/>
            <a:ext cx="1449734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0A5FA"/>
                </a:solidFill>
                <a:latin typeface="Plus Jakarta Sans"/>
              </a:rPr>
              <a:t>05 /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8875" y="2669381"/>
            <a:ext cx="5238750" cy="2109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472B6"/>
                </a:solidFill>
                <a:latin typeface="JetBrains Mono"/>
              </a:rPr>
              <a:t>public boolean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b="0" sz="975" i="0" u="none">
                <a:solidFill>
                  <a:srgbClr val="4ADE80"/>
                </a:solidFill>
                <a:latin typeface="JetBrains Mono"/>
              </a:rPr>
              <a:t>issueBook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(String isbn, String memberId) {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  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Book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book = bookMap.</a:t>
            </a:r>
            <a:r>
              <a:rPr b="0" sz="975" i="0" u="none">
                <a:solidFill>
                  <a:srgbClr val="4ADE80"/>
                </a:solidFill>
                <a:latin typeface="JetBrains Mono"/>
              </a:rPr>
              <a:t>get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(isbn);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  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if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(book != 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null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&amp;&amp; book.</a:t>
            </a:r>
            <a:r>
              <a:rPr b="0" sz="975" i="0" u="none">
                <a:solidFill>
                  <a:srgbClr val="4ADE80"/>
                </a:solidFill>
                <a:latin typeface="JetBrains Mono"/>
              </a:rPr>
              <a:t>isAvailable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()) {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    book.</a:t>
            </a:r>
            <a:r>
              <a:rPr b="0" sz="975" i="0" u="none">
                <a:solidFill>
                  <a:srgbClr val="4ADE80"/>
                </a:solidFill>
                <a:latin typeface="JetBrains Mono"/>
              </a:rPr>
              <a:t>setAvailable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(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false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);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    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Transaction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t = 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new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Transaction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(isbn, memberId);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    history.</a:t>
            </a:r>
            <a:r>
              <a:rPr b="0" sz="975" i="0" u="none">
                <a:solidFill>
                  <a:srgbClr val="4ADE80"/>
                </a:solidFill>
                <a:latin typeface="JetBrains Mono"/>
              </a:rPr>
              <a:t>add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(t);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    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return true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;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  }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  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throw new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BookUnavailableException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(</a:t>
            </a:r>
            <a:r>
              <a:rPr b="0" sz="975" i="0" u="none">
                <a:solidFill>
                  <a:srgbClr val="FBBF24"/>
                </a:solidFill>
                <a:latin typeface="JetBrains Mono"/>
              </a:rPr>
              <a:t>"Unavailable"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);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0" y="2678906"/>
            <a:ext cx="5943600" cy="1571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b="0" sz="825" i="0" u="none">
                <a:solidFill>
                  <a:srgbClr val="64748B"/>
                </a:solidFill>
                <a:latin typeface="JetBrains Mono"/>
              </a:rPr>
              <a:t>// Issue Book Transaction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3124200"/>
            <a:ext cx="483810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HashMap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50" y="3343275"/>
            <a:ext cx="46077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O(1) constant-time indexing for instant ISBN and book searches.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150" y="3952875"/>
            <a:ext cx="466308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ArrayList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0150" y="4171950"/>
            <a:ext cx="44410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Dynamic sequential storage for transaction history audit logs.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25" y="6791325"/>
            <a:ext cx="12172950" cy="57150"/>
          </a:xfrm>
          <a:prstGeom prst="rect">
            <a:avLst/>
          </a:prstGeom>
          <a:solidFill>
            <a:srgbClr val="408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24045" y="400050"/>
            <a:ext cx="1348829" cy="285750"/>
          </a:xfrm>
          <a:prstGeom prst="roundRect">
            <a:avLst>
              <a:gd name="adj" fmla="val 50000"/>
            </a:avLst>
          </a:prstGeom>
          <a:solidFill>
            <a:srgbClr val="0D1A36"/>
          </a:solidFill>
          <a:ln w="9525">
            <a:solidFill>
              <a:srgbClr val="233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" y="2762250"/>
            <a:ext cx="3498800" cy="1924050"/>
          </a:xfrm>
          <a:prstGeom prst="roundRect">
            <a:avLst>
              <a:gd name="adj" fmla="val 7920"/>
            </a:avLst>
          </a:prstGeom>
          <a:solidFill>
            <a:srgbClr val="0D1424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6525" y="2762250"/>
            <a:ext cx="3498800" cy="1924050"/>
          </a:xfrm>
          <a:prstGeom prst="roundRect">
            <a:avLst>
              <a:gd name="adj" fmla="val 7920"/>
            </a:avLst>
          </a:prstGeom>
          <a:solidFill>
            <a:srgbClr val="0D1424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3925" y="2762250"/>
            <a:ext cx="3498800" cy="1924050"/>
          </a:xfrm>
          <a:prstGeom prst="roundRect">
            <a:avLst>
              <a:gd name="adj" fmla="val 7920"/>
            </a:avLst>
          </a:prstGeom>
          <a:solidFill>
            <a:srgbClr val="0D1424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3000375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650" y="3000375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2050" y="3000375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75" y="3124200"/>
            <a:ext cx="1714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4662" y="3124200"/>
            <a:ext cx="219075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350" y="3124200"/>
            <a:ext cx="19050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9125" y="352425"/>
            <a:ext cx="7169646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Plus Jakarta Sans"/>
              </a:rPr>
              <a:t>Exception Handling &amp; Validation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6445" y="457200"/>
            <a:ext cx="113927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0A5FA"/>
                </a:solidFill>
                <a:latin typeface="Plus Jakarta Sans"/>
              </a:rPr>
              <a:t>06 /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3552825"/>
            <a:ext cx="396709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BookUnavailableException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3848100"/>
            <a:ext cx="3117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Triggers when an attempt is made to checkout a book that is currently already issued out.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4650" y="3552825"/>
            <a:ext cx="396709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MemberNotFoundException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4650" y="3848100"/>
            <a:ext cx="3117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Prevents illegal transaction processing for unregistered or inactive member IDs.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2050" y="3552825"/>
            <a:ext cx="38799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FineExceededException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2050" y="3848100"/>
            <a:ext cx="31178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Blocks new book checkouts if a user's unpaid fine balance exceeds configured threshold limits.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25" y="6791325"/>
            <a:ext cx="12172950" cy="57150"/>
          </a:xfrm>
          <a:prstGeom prst="rect">
            <a:avLst/>
          </a:prstGeom>
          <a:solidFill>
            <a:srgbClr val="408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25050" y="400050"/>
            <a:ext cx="1647825" cy="285750"/>
          </a:xfrm>
          <a:prstGeom prst="roundRect">
            <a:avLst>
              <a:gd name="adj" fmla="val 50000"/>
            </a:avLst>
          </a:prstGeom>
          <a:solidFill>
            <a:srgbClr val="0D1A36"/>
          </a:solidFill>
          <a:ln w="9525">
            <a:solidFill>
              <a:srgbClr val="233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" y="2795587"/>
            <a:ext cx="3448050" cy="1857375"/>
          </a:xfrm>
          <a:prstGeom prst="roundRect">
            <a:avLst>
              <a:gd name="adj" fmla="val 8205"/>
            </a:avLst>
          </a:prstGeom>
          <a:solidFill>
            <a:srgbClr val="0E1526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71975" y="2795587"/>
            <a:ext cx="3448050" cy="1857375"/>
          </a:xfrm>
          <a:prstGeom prst="roundRect">
            <a:avLst>
              <a:gd name="adj" fmla="val 8205"/>
            </a:avLst>
          </a:prstGeom>
          <a:solidFill>
            <a:srgbClr val="0E1526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24825" y="2795587"/>
            <a:ext cx="3448050" cy="1857375"/>
          </a:xfrm>
          <a:prstGeom prst="roundRect">
            <a:avLst>
              <a:gd name="adj" fmla="val 8205"/>
            </a:avLst>
          </a:prstGeom>
          <a:solidFill>
            <a:srgbClr val="0E1526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9125" y="352425"/>
            <a:ext cx="7188398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Plus Jakarta Sans"/>
              </a:rPr>
              <a:t>Key Performance Metrics &amp;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7450" y="457200"/>
            <a:ext cx="14382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0A5FA"/>
                </a:solidFill>
                <a:latin typeface="Plus Jakarta Sans"/>
              </a:rPr>
              <a:t>07 / BENCHMARKS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150" y="3148012"/>
            <a:ext cx="38100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  <a:defRPr/>
            </a:pPr>
            <a:r>
              <a:rPr b="1" sz="4800" i="0" u="none">
                <a:solidFill>
                  <a:srgbClr val="60A5FA"/>
                </a:solidFill>
                <a:latin typeface="Plus Jakarta Sans"/>
              </a:rPr>
              <a:t>O(1)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150" y="3890962"/>
            <a:ext cx="3810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8FAFC"/>
                </a:solidFill>
                <a:latin typeface="Plus Jakarta Sans"/>
              </a:rPr>
              <a:t>Search 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150" y="4148137"/>
            <a:ext cx="381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Plus Jakarta Sans"/>
              </a:rPr>
              <a:t>Instant HashMap Hash Lookup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0" y="3148012"/>
            <a:ext cx="38100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  <a:defRPr/>
            </a:pPr>
            <a:r>
              <a:rPr b="1" sz="4800" i="0" u="none">
                <a:solidFill>
                  <a:srgbClr val="60A5FA"/>
                </a:solidFill>
                <a:latin typeface="Plus Jakarta Sans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1000" y="3890962"/>
            <a:ext cx="3810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8FAFC"/>
                </a:solidFill>
                <a:latin typeface="Plus Jakarta Sans"/>
              </a:rPr>
              <a:t>JUnit Test Suite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1000" y="4148137"/>
            <a:ext cx="381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Plus Jakarta Sans"/>
              </a:rPr>
              <a:t>Zero Unhandled System Crashing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43850" y="3148012"/>
            <a:ext cx="38100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  <a:defRPr/>
            </a:pPr>
            <a:r>
              <a:rPr b="1" sz="4800" i="0" u="none">
                <a:solidFill>
                  <a:srgbClr val="60A5FA"/>
                </a:solidFill>
                <a:latin typeface="Plus Jakarta Sans"/>
              </a:rPr>
              <a:t>0ms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43850" y="3890962"/>
            <a:ext cx="3810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8FAFC"/>
                </a:solidFill>
                <a:latin typeface="Plus Jakarta Sans"/>
              </a:rPr>
              <a:t>Computation Delay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43850" y="4148137"/>
            <a:ext cx="381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Plus Jakarta Sans"/>
              </a:rPr>
              <a:t>Automated Due Date Fine Math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25" y="6791325"/>
            <a:ext cx="12172950" cy="57150"/>
          </a:xfrm>
          <a:prstGeom prst="rect">
            <a:avLst/>
          </a:prstGeom>
          <a:solidFill>
            <a:srgbClr val="408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64030" y="400050"/>
            <a:ext cx="1708844" cy="285750"/>
          </a:xfrm>
          <a:prstGeom prst="roundRect">
            <a:avLst>
              <a:gd name="adj" fmla="val 50000"/>
            </a:avLst>
          </a:prstGeom>
          <a:solidFill>
            <a:srgbClr val="0D1A36"/>
          </a:solidFill>
          <a:ln w="9525">
            <a:solidFill>
              <a:srgbClr val="233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" y="2862262"/>
            <a:ext cx="3498800" cy="1724025"/>
          </a:xfrm>
          <a:prstGeom prst="roundRect">
            <a:avLst>
              <a:gd name="adj" fmla="val 8839"/>
            </a:avLst>
          </a:prstGeom>
          <a:solidFill>
            <a:srgbClr val="0D1424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6525" y="2862262"/>
            <a:ext cx="3498800" cy="1724025"/>
          </a:xfrm>
          <a:prstGeom prst="roundRect">
            <a:avLst>
              <a:gd name="adj" fmla="val 8839"/>
            </a:avLst>
          </a:prstGeom>
          <a:solidFill>
            <a:srgbClr val="0D1424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3925" y="2862262"/>
            <a:ext cx="3498800" cy="1724025"/>
          </a:xfrm>
          <a:prstGeom prst="roundRect">
            <a:avLst>
              <a:gd name="adj" fmla="val 8839"/>
            </a:avLst>
          </a:prstGeom>
          <a:solidFill>
            <a:srgbClr val="0D1424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3100387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650" y="3100387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2050" y="3100387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3224212"/>
            <a:ext cx="1524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8950" y="3224212"/>
            <a:ext cx="1905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5400" y="3224212"/>
            <a:ext cx="15240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9125" y="352425"/>
            <a:ext cx="5869483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Plus Jakarta Sans"/>
              </a:rPr>
              <a:t>Future Scope &amp; Enhancements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6430" y="457200"/>
            <a:ext cx="1499294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0A5FA"/>
                </a:solidFill>
                <a:latin typeface="Plus Jakarta Sans"/>
              </a:rPr>
              <a:t>08 / FUTURE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3652837"/>
            <a:ext cx="396709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MySQL Persistence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3948112"/>
            <a:ext cx="3117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Migrating in-memory storage into relational SQL databases using JDBC / Hibernate drivers.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4650" y="3652837"/>
            <a:ext cx="396709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JavaFX GUI 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4650" y="3948112"/>
            <a:ext cx="3117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Transforming the current CLI interface into a modern desktop graphical UI layout.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2050" y="3652837"/>
            <a:ext cx="38799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QR / Barcode Scanning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2050" y="3948112"/>
            <a:ext cx="3117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Connecting hardware barcode scanners for instant checkout and return validations.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48725" y="-1419225"/>
            <a:ext cx="4762500" cy="4762500"/>
          </a:xfrm>
          <a:prstGeom prst="rect">
            <a:avLst/>
          </a:prstGeom>
          <a:solidFill>
            <a:srgbClr val="081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91125" y="2190750"/>
            <a:ext cx="1809750" cy="323850"/>
          </a:xfrm>
          <a:prstGeom prst="roundRect">
            <a:avLst>
              <a:gd name="adj" fmla="val 50000"/>
            </a:avLst>
          </a:prstGeom>
          <a:solidFill>
            <a:srgbClr val="0A193D"/>
          </a:solidFill>
          <a:ln w="9525">
            <a:solidFill>
              <a:srgbClr val="1F3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95650" y="4152900"/>
            <a:ext cx="5600700" cy="514350"/>
          </a:xfrm>
          <a:prstGeom prst="roundRect">
            <a:avLst>
              <a:gd name="adj" fmla="val 22222"/>
            </a:avLst>
          </a:prstGeom>
          <a:solidFill>
            <a:srgbClr val="0D1425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975" y="4314825"/>
            <a:ext cx="180975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55406" y="2266950"/>
            <a:ext cx="188118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60A5FA"/>
                </a:solidFill>
                <a:latin typeface="Plus Jakarta Sans"/>
              </a:rPr>
              <a:t>PROJECT EXPO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0765" y="2743200"/>
            <a:ext cx="3750468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FFFFF"/>
                </a:solidFill>
                <a:latin typeface="Plus Jakarta Sans"/>
              </a:rPr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1031" y="3562350"/>
            <a:ext cx="330993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Questions &amp; Open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20653" y="4324350"/>
            <a:ext cx="58459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8FAFC"/>
                </a:solidFill>
                <a:latin typeface="Plus Jakarta Sans"/>
              </a:rPr>
              <a:t>kallurumokshagnareddy-spec/community-library-management-system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